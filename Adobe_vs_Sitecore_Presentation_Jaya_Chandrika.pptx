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Adobe AEM vs Sitecore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Understanding Skills, Products, Benefits &amp; Use Cases</a:t>
            </a:r>
          </a:p>
          <a:p>
            <a:pPr>
              <a:spcAft>
                <a:spcPts val="800"/>
              </a:spcAft>
              <a:defRPr sz="1800"/>
            </a:pPr>
            <a:r>
              <a:t>By: Jaya Chandrika – Trainee, .NET &amp; GenAI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Both Adobe AEM and Sitecore are enterprise-level DXPs.</a:t>
            </a:r>
          </a:p>
          <a:p>
            <a:pPr>
              <a:spcAft>
                <a:spcPts val="800"/>
              </a:spcAft>
              <a:defRPr sz="1800"/>
            </a:pPr>
            <a:r>
              <a:t>They help companies build and deliver personalized web experiences.</a:t>
            </a:r>
          </a:p>
          <a:p>
            <a:pPr>
              <a:spcAft>
                <a:spcPts val="800"/>
              </a:spcAft>
              <a:defRPr sz="1800"/>
            </a:pPr>
            <a:r>
              <a:t>Used by large enterprises like banks, retailers, and insurers.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Adobe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Adobe is known for Photoshop, Illustrator, Acrobat, Premiere Pro.</a:t>
            </a:r>
          </a:p>
          <a:p>
            <a:pPr>
              <a:spcAft>
                <a:spcPts val="800"/>
              </a:spcAft>
              <a:defRPr sz="1800"/>
            </a:pPr>
            <a:r>
              <a:t>Adobe Experience Cloud helps manage content, marketing, and CX for enterprises.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AEM = Adobe Experience Manager</a:t>
            </a:r>
          </a:p>
          <a:p>
            <a:pPr>
              <a:spcAft>
                <a:spcPts val="800"/>
              </a:spcAft>
              <a:defRPr sz="1800"/>
            </a:pPr>
            <a:r>
              <a:t>Used to build, manage, and update enterprise websites easily.</a:t>
            </a:r>
          </a:p>
          <a:p>
            <a:pPr>
              <a:spcAft>
                <a:spcPts val="800"/>
              </a:spcAft>
              <a:defRPr sz="1800"/>
            </a:pPr>
            <a:r>
              <a:t>Combines Website Builder + Content Manager + Asset Organizer.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Adobe AEM – Technical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Language: Java</a:t>
            </a:r>
          </a:p>
          <a:p>
            <a:pPr>
              <a:spcAft>
                <a:spcPts val="800"/>
              </a:spcAft>
              <a:defRPr sz="1800"/>
            </a:pPr>
            <a:r>
              <a:t>Front-End Tools: HTML, CSS, JS, HTL, React, Angular</a:t>
            </a:r>
          </a:p>
          <a:p>
            <a:pPr>
              <a:spcAft>
                <a:spcPts val="800"/>
              </a:spcAft>
              <a:defRPr sz="1800"/>
            </a:pPr>
            <a:r>
              <a:t>Modules: Sites, Assets, Forms, Screens</a:t>
            </a:r>
          </a:p>
          <a:p>
            <a:pPr>
              <a:spcAft>
                <a:spcPts val="800"/>
              </a:spcAft>
              <a:defRPr sz="1800"/>
            </a:pPr>
            <a:r>
              <a:t>Cloud Option: AEM as a Cloud Service</a:t>
            </a:r>
          </a:p>
          <a:p>
            <a:pPr>
              <a:spcAft>
                <a:spcPts val="800"/>
              </a:spcAft>
              <a:defRPr sz="1800"/>
            </a:pPr>
            <a:r>
              <a:t>Target Users: Front-end Developers, Marketers, Content Authors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Front-End Developer Role in AEM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Build reusable UI components like header, footer, banners.</a:t>
            </a:r>
          </a:p>
          <a:p>
            <a:pPr>
              <a:spcAft>
                <a:spcPts val="800"/>
              </a:spcAft>
              <a:defRPr sz="1800"/>
            </a:pPr>
            <a:r>
              <a:t>Use HTL (HTML Template Language).</a:t>
            </a:r>
          </a:p>
          <a:p>
            <a:pPr>
              <a:spcAft>
                <a:spcPts val="800"/>
              </a:spcAft>
              <a:defRPr sz="1800"/>
            </a:pPr>
            <a:r>
              <a:t>Manage assets with Client Libraries (ClientLibs).</a:t>
            </a:r>
          </a:p>
          <a:p>
            <a:pPr>
              <a:spcAft>
                <a:spcPts val="800"/>
              </a:spcAft>
              <a:defRPr sz="1800"/>
            </a:pPr>
            <a:r>
              <a:t>Integrate React/Angular SPAs and APIs (GraphQL/JSON).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AEM Cloud Service: auto updates, scalability, no manual server setup.</a:t>
            </a:r>
          </a:p>
          <a:p>
            <a:pPr>
              <a:spcAft>
                <a:spcPts val="800"/>
              </a:spcAft>
              <a:defRPr sz="1800"/>
            </a:pPr>
            <a:r>
              <a:t>Integrates with Adobe Analytics, Target, Campaign.</a:t>
            </a:r>
          </a:p>
          <a:p>
            <a:pPr>
              <a:spcAft>
                <a:spcPts val="800"/>
              </a:spcAft>
              <a:defRPr sz="1800"/>
            </a:pPr>
            <a:r>
              <a:t>Ideal for content-driven enterprises.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Adobe Products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Creative: Photoshop, Illustrator, Premiere Pro</a:t>
            </a:r>
          </a:p>
          <a:p>
            <a:pPr>
              <a:spcAft>
                <a:spcPts val="800"/>
              </a:spcAft>
              <a:defRPr sz="1800"/>
            </a:pPr>
            <a:r>
              <a:t>Documents: Acrobat DC, Sign</a:t>
            </a:r>
          </a:p>
          <a:p>
            <a:pPr>
              <a:spcAft>
                <a:spcPts val="800"/>
              </a:spcAft>
              <a:defRPr sz="1800"/>
            </a:pPr>
            <a:r>
              <a:t>Marketing: AEM, Analytics, Target</a:t>
            </a:r>
          </a:p>
          <a:p>
            <a:pPr>
              <a:spcAft>
                <a:spcPts val="800"/>
              </a:spcAft>
              <a:defRPr sz="1800"/>
            </a:pPr>
            <a:r>
              <a:t>AI/Cloud: Firefly, Sensei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Adobe AEM – Use Case (Nike)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Front-end devs build components in AEM.</a:t>
            </a:r>
          </a:p>
          <a:p>
            <a:pPr>
              <a:spcAft>
                <a:spcPts val="800"/>
              </a:spcAft>
              <a:defRPr sz="1800"/>
            </a:pPr>
            <a:r>
              <a:t>Content authors add products and offers easily.</a:t>
            </a:r>
          </a:p>
          <a:p>
            <a:pPr>
              <a:spcAft>
                <a:spcPts val="800"/>
              </a:spcAft>
              <a:defRPr sz="1800"/>
            </a:pPr>
            <a:r>
              <a:t>Marketing team personalizes offers via Adobe Analytics &amp; Target.</a:t>
            </a:r>
          </a:p>
          <a:p>
            <a:pPr>
              <a:spcAft>
                <a:spcPts val="800"/>
              </a:spcAft>
              <a:defRPr sz="1800"/>
            </a:pPr>
            <a:r>
              <a:t>Result: Unified design, content, and marketing.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Sitecore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.NET-based Digital Experience Platform (DXP).</a:t>
            </a:r>
          </a:p>
          <a:p>
            <a:pPr>
              <a:spcAft>
                <a:spcPts val="800"/>
              </a:spcAft>
              <a:defRPr sz="1800"/>
            </a:pPr>
            <a:r>
              <a:t>Combines CMS, personalization, analytics, and e-commerce.</a:t>
            </a:r>
          </a:p>
          <a:p>
            <a:pPr>
              <a:spcAft>
                <a:spcPts val="800"/>
              </a:spcAft>
              <a:defRPr sz="1800"/>
            </a:pPr>
            <a:r>
              <a:t>Built mainly on ASP.NET 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Sitecore Developer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Backend: C#, ASP.NET Core/MVC, Entity Framework</a:t>
            </a:r>
          </a:p>
          <a:p>
            <a:pPr>
              <a:spcAft>
                <a:spcPts val="800"/>
              </a:spcAft>
              <a:defRPr sz="1800"/>
            </a:pPr>
            <a:r>
              <a:t>Frontend: HTML, CSS, JavaScript, React/Angular</a:t>
            </a:r>
          </a:p>
          <a:p>
            <a:pPr>
              <a:spcAft>
                <a:spcPts val="800"/>
              </a:spcAft>
              <a:defRPr sz="1800"/>
            </a:pPr>
            <a:r>
              <a:t>Tools: Sitecore CLI, Sitecore Rocks, SXA</a:t>
            </a:r>
          </a:p>
          <a:p>
            <a:pPr>
              <a:spcAft>
                <a:spcPts val="800"/>
              </a:spcAft>
              <a:defRPr sz="1800"/>
            </a:pPr>
            <a:r>
              <a:t>APIs: REST, GraphQL, Headless Services</a:t>
            </a:r>
          </a:p>
          <a:p>
            <a:pPr>
              <a:spcAft>
                <a:spcPts val="800"/>
              </a:spcAft>
              <a:defRPr sz="1800"/>
            </a:pPr>
            <a:r>
              <a:t>Database &amp; DevOps: SQL Server, Azure DevOps, Docker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Sitecore Product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1. XM (Experience Manager): Core CMS</a:t>
            </a:r>
          </a:p>
          <a:p>
            <a:pPr>
              <a:spcAft>
                <a:spcPts val="800"/>
              </a:spcAft>
              <a:defRPr sz="1800"/>
            </a:pPr>
            <a:r>
              <a:t>2. XP (Experience Platform): Analytics &amp; personalization</a:t>
            </a:r>
          </a:p>
          <a:p>
            <a:pPr>
              <a:spcAft>
                <a:spcPts val="800"/>
              </a:spcAft>
              <a:defRPr sz="1800"/>
            </a:pPr>
            <a:r>
              <a:t>3. XC (Experience Commerce): E-commerce integration</a:t>
            </a:r>
          </a:p>
          <a:p>
            <a:pPr>
              <a:spcAft>
                <a:spcPts val="800"/>
              </a:spcAft>
              <a:defRPr sz="1800"/>
            </a:pPr>
            <a:r>
              <a:t>4. XM Cloud: Headless, cloud-native CMS</a:t>
            </a:r>
          </a:p>
          <a:p>
            <a:pPr>
              <a:spcAft>
                <a:spcPts val="800"/>
              </a:spcAft>
              <a:defRPr sz="1800"/>
            </a:pPr>
            <a:r>
              <a:t>5. Content Hub: Digital Asset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Sitecore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For Developers: .NET-based, API-first, modular</a:t>
            </a:r>
          </a:p>
          <a:p>
            <a:pPr>
              <a:spcAft>
                <a:spcPts val="800"/>
              </a:spcAft>
              <a:defRPr sz="1800"/>
            </a:pPr>
            <a:r>
              <a:t>For Businesses: Unified platform, AI-driven personalization</a:t>
            </a:r>
          </a:p>
          <a:p>
            <a:pPr>
              <a:spcAft>
                <a:spcPts val="800"/>
              </a:spcAft>
              <a:defRPr sz="1800"/>
            </a:pPr>
            <a:r>
              <a:t>For Users: Personalized, consistent experiences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Sitecore – Use Case (Retail Brand)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Runs multiple brand websites from one CMS.</a:t>
            </a:r>
          </a:p>
          <a:p>
            <a:pPr>
              <a:spcAft>
                <a:spcPts val="800"/>
              </a:spcAft>
              <a:defRPr sz="1800"/>
            </a:pPr>
            <a:r>
              <a:t>Integrates with CRM &amp; e-commerce systems.</a:t>
            </a:r>
          </a:p>
          <a:p>
            <a:pPr>
              <a:spcAft>
                <a:spcPts val="800"/>
              </a:spcAft>
              <a:defRPr sz="1800"/>
            </a:pPr>
            <a:r>
              <a:t>Uses XP for analytics, XM Cloud for scalability.</a:t>
            </a:r>
          </a:p>
          <a:p>
            <a:pPr>
              <a:spcAft>
                <a:spcPts val="800"/>
              </a:spcAft>
              <a:defRPr sz="1800"/>
            </a:pPr>
            <a:r>
              <a:t>Result: Personalized, consistent digital experience.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– Adobe vs Sitecore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Adobe AEM → Java-based, content + marketing focus</a:t>
            </a:r>
          </a:p>
          <a:p>
            <a:pPr>
              <a:spcAft>
                <a:spcPts val="800"/>
              </a:spcAft>
              <a:defRPr sz="1800"/>
            </a:pPr>
            <a:r>
              <a:t>Sitecore → .NET-based, content + personalization + commerce</a:t>
            </a:r>
          </a:p>
          <a:p>
            <a:pPr>
              <a:spcAft>
                <a:spcPts val="800"/>
              </a:spcAft>
              <a:defRPr sz="1800"/>
            </a:pPr>
            <a:r>
              <a:t>AEM Cloud Service vs Sitecore XM Cloud</a:t>
            </a:r>
          </a:p>
          <a:p>
            <a:pPr>
              <a:spcAft>
                <a:spcPts val="800"/>
              </a:spcAft>
              <a:defRPr sz="1800"/>
            </a:pPr>
            <a:r>
              <a:t>Both enable scalable enterprise-level digital experiences.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